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imes New Roman Bold" charset="1" panose="02020803070505020304"/>
      <p:regular r:id="rId16"/>
    </p:embeddedFont>
    <p:embeddedFont>
      <p:font typeface="Open Sans" charset="1" panose="020B0606030504020204"/>
      <p:regular r:id="rId17"/>
    </p:embeddedFont>
    <p:embeddedFont>
      <p:font typeface="Noto Sans Bold" charset="1" panose="020B0802040504020204"/>
      <p:regular r:id="rId18"/>
    </p:embeddedFont>
    <p:embeddedFont>
      <p:font typeface="Noto Sans" charset="1" panose="020B0502040504020204"/>
      <p:regular r:id="rId19"/>
    </p:embeddedFont>
    <p:embeddedFont>
      <p:font typeface="Open Sans Bold" charset="1" panose="020B080603050402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5E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8875" y="1768664"/>
            <a:ext cx="18069125" cy="2221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780"/>
              </a:lnSpc>
              <a:spcBef>
                <a:spcPct val="0"/>
              </a:spcBef>
            </a:pPr>
            <a:r>
              <a:rPr lang="en-US" b="true" sz="6271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Pentest report (mức độ, tác động, khuyến nghị) cho OWASP Juice Shop.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2729" y="5248151"/>
            <a:ext cx="8468859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Sinh viên thực hiện: Lê Vũ Kiệt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42438" y="6401121"/>
            <a:ext cx="10902785" cy="629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79"/>
              </a:lnSpc>
              <a:spcBef>
                <a:spcPct val="0"/>
              </a:spcBef>
            </a:pPr>
            <a:r>
              <a:rPr lang="en-US" sz="3699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Giáo viên hướng dẫn: ThS. Phạm Trọng Huynh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678" y="321737"/>
            <a:ext cx="139105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Tổng quan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9159" y="1756595"/>
            <a:ext cx="15073331" cy="29806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Đối tượng kiểm thử: OWASP Juice S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op là 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ột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ứ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d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ụng web mã 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ng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uồn mở được thiết kế nhằm phục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v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ụ việc học tập và thực hà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n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h kiểm thử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 bả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o mật.</a:t>
            </a:r>
          </a:p>
          <a:p>
            <a:pPr algn="r" marL="0" indent="0" lvl="0">
              <a:lnSpc>
                <a:spcPts val="4759"/>
              </a:lnSpc>
              <a:spcBef>
                <a:spcPct val="0"/>
              </a:spcBef>
            </a:pPr>
          </a:p>
          <a:p>
            <a:pPr algn="r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719159" y="3933859"/>
            <a:ext cx="12858750" cy="41808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Mục tiêu: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Thiết kế các test case cho các chức năng chính của hệ thống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Thực hiện kiểm thử chức năng (Functional Testing)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Thực hiện kiểm thử bảo mật (Security Testing / Pentest)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Áp dụng hầu hết các kỹ thuật kiểm thử</a:t>
            </a:r>
          </a:p>
          <a:p>
            <a:pPr algn="l" marL="734059" indent="-367030" lvl="1">
              <a:lnSpc>
                <a:spcPts val="4759"/>
              </a:lnSpc>
              <a:buFont typeface="Arial"/>
              <a:buChar char="•"/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Làm quen với pentest</a:t>
            </a:r>
          </a:p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678" y="321737"/>
            <a:ext cx="139105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Tổng quan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2820" y="1327732"/>
            <a:ext cx="150733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Công nghệ và nền tảng của ứng dụng: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144000" y="1208832"/>
            <a:ext cx="6709631" cy="7498186"/>
          </a:xfrm>
          <a:custGeom>
            <a:avLst/>
            <a:gdLst/>
            <a:ahLst/>
            <a:cxnLst/>
            <a:rect r="r" b="b" t="t" l="l"/>
            <a:pathLst>
              <a:path h="7498186" w="6709631">
                <a:moveTo>
                  <a:pt x="0" y="0"/>
                </a:moveTo>
                <a:lnTo>
                  <a:pt x="6709631" y="0"/>
                </a:lnTo>
                <a:lnTo>
                  <a:pt x="6709631" y="7498186"/>
                </a:lnTo>
                <a:lnTo>
                  <a:pt x="0" y="74981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562820" y="3050377"/>
            <a:ext cx="15073331" cy="118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Thời </a:t>
            </a: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gian thực hiện kiểm thử: </a:t>
            </a:r>
          </a:p>
          <a:p>
            <a:pPr algn="just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 strike="noStrike" u="none">
                <a:solidFill>
                  <a:srgbClr val="000000"/>
                </a:solidFill>
                <a:latin typeface="Noto Sans"/>
                <a:ea typeface="Noto Sans"/>
                <a:cs typeface="Noto Sans"/>
                <a:sym typeface="Noto Sans"/>
              </a:rPr>
              <a:t>từ ngày 23/12/2025 đến ngày 17/03/2026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12678" y="321737"/>
            <a:ext cx="139105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I. Tổng quan</a:t>
            </a:r>
          </a:p>
        </p:txBody>
      </p:sp>
      <p:graphicFrame>
        <p:nvGraphicFramePr>
          <p:cNvPr name="Table 3" id="3"/>
          <p:cNvGraphicFramePr>
            <a:graphicFrameLocks noGrp="true"/>
          </p:cNvGraphicFramePr>
          <p:nvPr/>
        </p:nvGraphicFramePr>
        <p:xfrm>
          <a:off x="5418189" y="2103654"/>
          <a:ext cx="7205763" cy="7991475"/>
        </p:xfrm>
        <a:graphic>
          <a:graphicData uri="http://schemas.openxmlformats.org/drawingml/2006/table">
            <a:tbl>
              <a:tblPr/>
              <a:tblGrid>
                <a:gridCol w="3657891"/>
                <a:gridCol w="3547872"/>
              </a:tblGrid>
              <a:tr h="1024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Module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Màn hình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BCD"/>
                    </a:solidFill>
                  </a:tcPr>
                </a:tc>
              </a:tr>
              <a:tr h="1024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Register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Register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Login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Login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Product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Product Listing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Search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Search Bar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Basket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Basket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2405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Checkout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Checkout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23074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Account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Change Password Page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FFD6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4" id="4"/>
          <p:cNvSpPr txBox="true"/>
          <p:nvPr/>
        </p:nvSpPr>
        <p:spPr>
          <a:xfrm rot="0">
            <a:off x="687892" y="1332764"/>
            <a:ext cx="15073331" cy="58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9"/>
              </a:lnSpc>
              <a:spcBef>
                <a:spcPct val="0"/>
              </a:spcBef>
            </a:pPr>
            <a:r>
              <a:rPr lang="en-US" b="true" sz="3399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Các module và màn </a:t>
            </a:r>
            <a:r>
              <a:rPr lang="en-US" b="true" sz="3399" strike="noStrike" u="non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hình đượ</a:t>
            </a:r>
            <a:r>
              <a:rPr lang="en-US" b="true" sz="3399" strike="noStrike" u="non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c kiểm thử: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47148" y="1523204"/>
            <a:ext cx="8213456" cy="8539386"/>
          </a:xfrm>
          <a:custGeom>
            <a:avLst/>
            <a:gdLst/>
            <a:ahLst/>
            <a:cxnLst/>
            <a:rect r="r" b="b" t="t" l="l"/>
            <a:pathLst>
              <a:path h="8539386" w="8213456">
                <a:moveTo>
                  <a:pt x="0" y="0"/>
                </a:moveTo>
                <a:lnTo>
                  <a:pt x="8213456" y="0"/>
                </a:lnTo>
                <a:lnTo>
                  <a:pt x="8213456" y="8539386"/>
                </a:lnTo>
                <a:lnTo>
                  <a:pt x="0" y="8539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821309" y="1389248"/>
            <a:ext cx="8121371" cy="8807298"/>
          </a:xfrm>
          <a:custGeom>
            <a:avLst/>
            <a:gdLst/>
            <a:ahLst/>
            <a:cxnLst/>
            <a:rect r="r" b="b" t="t" l="l"/>
            <a:pathLst>
              <a:path h="8807298" w="8121371">
                <a:moveTo>
                  <a:pt x="0" y="0"/>
                </a:moveTo>
                <a:lnTo>
                  <a:pt x="8121371" y="0"/>
                </a:lnTo>
                <a:lnTo>
                  <a:pt x="8121371" y="8807298"/>
                </a:lnTo>
                <a:lnTo>
                  <a:pt x="0" y="880729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2678" y="321737"/>
            <a:ext cx="13910508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II. Kế hoạch kiểm thử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5E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name="Table 2" id="2"/>
          <p:cNvGraphicFramePr>
            <a:graphicFrameLocks noGrp="true"/>
          </p:cNvGraphicFramePr>
          <p:nvPr/>
        </p:nvGraphicFramePr>
        <p:xfrm>
          <a:off x="290671" y="1493255"/>
          <a:ext cx="17706659" cy="7581900"/>
        </p:xfrm>
        <a:graphic>
          <a:graphicData uri="http://schemas.openxmlformats.org/drawingml/2006/table">
            <a:tbl>
              <a:tblPr/>
              <a:tblGrid>
                <a:gridCol w="3083127"/>
                <a:gridCol w="14623532"/>
              </a:tblGrid>
              <a:tr h="947738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Mục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true">
                          <a:solidFill>
                            <a:srgbClr val="000000"/>
                          </a:solidFill>
                          <a:latin typeface="Open Sans Bold"/>
                          <a:ea typeface="Open Sans Bold"/>
                          <a:cs typeface="Open Sans Bold"/>
                          <a:sym typeface="Open Sans Bold"/>
                        </a:rPr>
                        <a:t>Nội dung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D6FF"/>
                    </a:solidFill>
                  </a:tcPr>
                </a:tc>
              </a:tr>
              <a:tr h="947738">
                <a:tc rowSpan="4"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Kỹ thuật kiểm thử hộp đen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738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6" indent="-269873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Phân vùng tương đương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738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6" indent="-269873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Phân tích giá trị biên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738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4.1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6" indent="-269873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Đoán lỗi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737">
                <a:tc rowSpan="3"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Kỹ thuật kiểm thử hộp trắng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737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6" indent="-269873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Branch Coverage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47737">
                <a:tc vMerge="true">
                  <a:txBody>
                    <a:bodyPr anchor="t" rtlCol="false"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4.2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 marL="539746" indent="-269873" lvl="1">
                        <a:lnSpc>
                          <a:spcPts val="3499"/>
                        </a:lnSpc>
                        <a:buFont typeface="Arial"/>
                        <a:buChar char="•"/>
                        <a:defRPr/>
                      </a:pPr>
                      <a:r>
                        <a:rPr lang="en-US" sz="2499">
                          <a:solidFill>
                            <a:srgbClr val="000000"/>
                          </a:solidFill>
                          <a:latin typeface="Open Sans"/>
                          <a:ea typeface="Open Sans"/>
                          <a:cs typeface="Open Sans"/>
                          <a:sym typeface="Open Sans"/>
                        </a:rPr>
                        <a:t>Vẽ đồ thị luồng điều khiển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99AC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3" id="3"/>
          <p:cNvSpPr txBox="true"/>
          <p:nvPr/>
        </p:nvSpPr>
        <p:spPr>
          <a:xfrm rot="0">
            <a:off x="527217" y="151233"/>
            <a:ext cx="7553176" cy="100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2"/>
              </a:lnSpc>
            </a:pPr>
            <a:r>
              <a:rPr lang="en-US" sz="568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III. Thiết kế ca kiểm thử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28700" y="1523204"/>
            <a:ext cx="7800265" cy="8294113"/>
          </a:xfrm>
          <a:custGeom>
            <a:avLst/>
            <a:gdLst/>
            <a:ahLst/>
            <a:cxnLst/>
            <a:rect r="r" b="b" t="t" l="l"/>
            <a:pathLst>
              <a:path h="8294113" w="7800265">
                <a:moveTo>
                  <a:pt x="0" y="0"/>
                </a:moveTo>
                <a:lnTo>
                  <a:pt x="7800265" y="0"/>
                </a:lnTo>
                <a:lnTo>
                  <a:pt x="7800265" y="8294113"/>
                </a:lnTo>
                <a:lnTo>
                  <a:pt x="0" y="82941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9917599" y="1523204"/>
            <a:ext cx="7216630" cy="8294113"/>
          </a:xfrm>
          <a:custGeom>
            <a:avLst/>
            <a:gdLst/>
            <a:ahLst/>
            <a:cxnLst/>
            <a:rect r="r" b="b" t="t" l="l"/>
            <a:pathLst>
              <a:path h="8294113" w="7216630">
                <a:moveTo>
                  <a:pt x="0" y="0"/>
                </a:moveTo>
                <a:lnTo>
                  <a:pt x="7216630" y="0"/>
                </a:lnTo>
                <a:lnTo>
                  <a:pt x="7216630" y="8294113"/>
                </a:lnTo>
                <a:lnTo>
                  <a:pt x="0" y="82941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4" id="4"/>
          <p:cNvSpPr txBox="true"/>
          <p:nvPr/>
        </p:nvSpPr>
        <p:spPr>
          <a:xfrm rot="0">
            <a:off x="312678" y="321737"/>
            <a:ext cx="156458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IV. Các trường hợp kiểm thử (tổng 47 test case)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1791" y="1239277"/>
            <a:ext cx="7753430" cy="9047723"/>
          </a:xfrm>
          <a:custGeom>
            <a:avLst/>
            <a:gdLst/>
            <a:ahLst/>
            <a:cxnLst/>
            <a:rect r="r" b="b" t="t" l="l"/>
            <a:pathLst>
              <a:path h="9047723" w="7753430">
                <a:moveTo>
                  <a:pt x="0" y="0"/>
                </a:moveTo>
                <a:lnTo>
                  <a:pt x="7753430" y="0"/>
                </a:lnTo>
                <a:lnTo>
                  <a:pt x="7753430" y="9047723"/>
                </a:lnTo>
                <a:lnTo>
                  <a:pt x="0" y="904772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972597" y="1327851"/>
            <a:ext cx="6841532" cy="8959149"/>
          </a:xfrm>
          <a:custGeom>
            <a:avLst/>
            <a:gdLst/>
            <a:ahLst/>
            <a:cxnLst/>
            <a:rect r="r" b="b" t="t" l="l"/>
            <a:pathLst>
              <a:path h="8959149" w="6841532">
                <a:moveTo>
                  <a:pt x="0" y="0"/>
                </a:moveTo>
                <a:lnTo>
                  <a:pt x="6841531" y="0"/>
                </a:lnTo>
                <a:lnTo>
                  <a:pt x="6841531" y="8959149"/>
                </a:lnTo>
                <a:lnTo>
                  <a:pt x="0" y="895914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2678" y="321737"/>
            <a:ext cx="15645871" cy="8870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5199" b="true">
                <a:solidFill>
                  <a:srgbClr val="000000"/>
                </a:solidFill>
                <a:latin typeface="Noto Sans Bold"/>
                <a:ea typeface="Noto Sans Bold"/>
                <a:cs typeface="Noto Sans Bold"/>
                <a:sym typeface="Noto Sans Bold"/>
              </a:rPr>
              <a:t>V. Báo cáo tóm tắt kiểm thử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03448" y="1159477"/>
            <a:ext cx="14110515" cy="8893014"/>
          </a:xfrm>
          <a:custGeom>
            <a:avLst/>
            <a:gdLst/>
            <a:ahLst/>
            <a:cxnLst/>
            <a:rect r="r" b="b" t="t" l="l"/>
            <a:pathLst>
              <a:path h="8893014" w="14110515">
                <a:moveTo>
                  <a:pt x="0" y="0"/>
                </a:moveTo>
                <a:lnTo>
                  <a:pt x="14110514" y="0"/>
                </a:lnTo>
                <a:lnTo>
                  <a:pt x="14110514" y="8893014"/>
                </a:lnTo>
                <a:lnTo>
                  <a:pt x="0" y="889301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4920"/>
            </a:stretch>
          </a:blipFill>
          <a:ln w="3810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0" y="151233"/>
            <a:ext cx="10593116" cy="100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2"/>
              </a:lnSpc>
            </a:pPr>
            <a:r>
              <a:rPr lang="en-US" sz="568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VI. Các bảng test case đại diện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E9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268155" y="1354548"/>
            <a:ext cx="13751690" cy="8697944"/>
          </a:xfrm>
          <a:custGeom>
            <a:avLst/>
            <a:gdLst/>
            <a:ahLst/>
            <a:cxnLst/>
            <a:rect r="r" b="b" t="t" l="l"/>
            <a:pathLst>
              <a:path h="8697944" w="13751690">
                <a:moveTo>
                  <a:pt x="0" y="0"/>
                </a:moveTo>
                <a:lnTo>
                  <a:pt x="13751690" y="0"/>
                </a:lnTo>
                <a:lnTo>
                  <a:pt x="13751690" y="8697943"/>
                </a:lnTo>
                <a:lnTo>
                  <a:pt x="0" y="869794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0" y="151233"/>
            <a:ext cx="10593116" cy="10082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52"/>
              </a:lnSpc>
            </a:pPr>
            <a:r>
              <a:rPr lang="en-US" sz="5680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VI. Các bảng test case đại diện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DAHES3L6RKI</dc:identifier>
  <dcterms:modified xsi:type="dcterms:W3CDTF">2011-08-01T06:04:30Z</dcterms:modified>
  <cp:revision>1</cp:revision>
  <dc:title>I. Tổng quan</dc:title>
</cp:coreProperties>
</file>